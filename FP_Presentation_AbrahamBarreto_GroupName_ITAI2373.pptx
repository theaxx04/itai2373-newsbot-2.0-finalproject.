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NewsBot Intelligence System 2.0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41248" y="3611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35B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NLP News-Analysis Platform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" y="5394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ITAI 2373 — Natural Language Processing  |  Final Project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GroupName  |  Member 1 · Member 2 · Member 3 · Member 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41248" y="1874520"/>
            <a:ext cx="146304" cy="146304"/>
          </a:xfrm>
          <a:prstGeom prst="ellipse">
            <a:avLst/>
          </a:prstGeom>
          <a:solidFill>
            <a:srgbClr val="0E8C86"/>
          </a:solidFill>
          <a:ln/>
        </p:spPr>
      </p:sp>
      <p:sp>
        <p:nvSpPr>
          <p:cNvPr id="6" name="Shape 4"/>
          <p:cNvSpPr/>
          <p:nvPr/>
        </p:nvSpPr>
        <p:spPr>
          <a:xfrm>
            <a:off x="1152144" y="1874520"/>
            <a:ext cx="146304" cy="146304"/>
          </a:xfrm>
          <a:prstGeom prst="ellipse">
            <a:avLst/>
          </a:prstGeom>
          <a:solidFill>
            <a:srgbClr val="35B7A6"/>
          </a:solidFill>
          <a:ln/>
        </p:spPr>
      </p:sp>
      <p:sp>
        <p:nvSpPr>
          <p:cNvPr id="7" name="Shape 5"/>
          <p:cNvSpPr/>
          <p:nvPr/>
        </p:nvSpPr>
        <p:spPr>
          <a:xfrm>
            <a:off x="1463040" y="1874520"/>
            <a:ext cx="146304" cy="146304"/>
          </a:xfrm>
          <a:prstGeom prst="ellipse">
            <a:avLst/>
          </a:prstGeom>
          <a:solidFill>
            <a:srgbClr val="1C6D8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Much News, Too Little Time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B2430"/>
                </a:solidFill>
              </a:rPr>
              <a:t>Value lives in the patterns across thousands of articles — not in any single one.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5B7085"/>
                </a:solidFill>
              </a:rPr>
              <a:t>Coverage is continuous, multilingual, and overwhelming. Manual monitoring is slow, inconsistent, and does not scale.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0" y="1737360"/>
            <a:ext cx="566928" cy="566928"/>
          </a:xfrm>
          <a:prstGeom prst="ellipse">
            <a:avLst/>
          </a:prstGeom>
          <a:solidFill>
            <a:srgbClr val="1C6D8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0" y="1737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43800" y="1691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543800" y="2011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articles than any team can read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0" y="2788920"/>
            <a:ext cx="566928" cy="566928"/>
          </a:xfrm>
          <a:prstGeom prst="ellipse">
            <a:avLst/>
          </a:prstGeom>
          <a:solidFill>
            <a:srgbClr val="0E8C86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2788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543800" y="2743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543800" y="3063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coverage spans many languages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0" y="3840480"/>
            <a:ext cx="566928" cy="566928"/>
          </a:xfrm>
          <a:prstGeom prst="ellipse">
            <a:avLst/>
          </a:prstGeom>
          <a:solidFill>
            <a:srgbClr val="35B7A6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3840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543800" y="3794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543800" y="4114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&amp; sentiment shifts stay hidden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0" y="4892040"/>
            <a:ext cx="566928" cy="566928"/>
          </a:xfrm>
          <a:prstGeom prst="ellipse">
            <a:avLst/>
          </a:prstGeom>
          <a:solidFill>
            <a:srgbClr val="12233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48920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543800" y="4846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543800" y="51663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locked behind technical tools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Prototype to Platform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5029200" cy="4206240"/>
          </a:xfrm>
          <a:prstGeom prst="roundRect">
            <a:avLst>
              <a:gd name="adj" fmla="val 1739"/>
            </a:avLst>
          </a:prstGeom>
          <a:solidFill>
            <a:srgbClr val="EAF1F5"/>
          </a:solidFill>
          <a:ln w="6350">
            <a:solidFill>
              <a:srgbClr val="C7D6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 — NewsBot 1.0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242316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</a:rPr>
              <a:t>8-stage linear pipeline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</a:rPr>
              <a:t>English only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</a:rPr>
              <a:t>One article at a time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</a:rPr>
              <a:t>Classification + description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</a:rPr>
              <a:t>A script, not a system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806440" y="338328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8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6400800" y="1737360"/>
            <a:ext cx="4937760" cy="4206240"/>
          </a:xfrm>
          <a:prstGeom prst="roundRect">
            <a:avLst>
              <a:gd name="adj" fmla="val 1739"/>
            </a:avLst>
          </a:prstGeom>
          <a:solidFill>
            <a:srgbClr val="12233F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35B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— NewsBot 2.0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0" y="2423160"/>
            <a:ext cx="44805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</a:rPr>
              <a:t>Modular, testable components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</a:rPr>
              <a:t>Multilingual intelligence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</a:rPr>
              <a:t>Reasons across whole collections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</a:rPr>
              <a:t>Topics, summaries, semantic search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</a:rPr>
              <a:t>Conversational + explainable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 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108960" y="1600200"/>
            <a:ext cx="5943600" cy="685800"/>
          </a:xfrm>
          <a:prstGeom prst="roundRect">
            <a:avLst>
              <a:gd name="adj" fmla="val 8000"/>
            </a:avLst>
          </a:prstGeom>
          <a:solidFill>
            <a:srgbClr val="12233F"/>
          </a:solidFill>
          <a:ln/>
        </p:spPr>
      </p:sp>
      <p:sp>
        <p:nvSpPr>
          <p:cNvPr id="5" name="Text 3"/>
          <p:cNvSpPr/>
          <p:nvPr/>
        </p:nvSpPr>
        <p:spPr>
          <a:xfrm>
            <a:off x="3108960" y="160020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NewsBot2IntegratedSystem  —  orchestrator + shared state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2834640"/>
            <a:ext cx="1965960" cy="1051560"/>
          </a:xfrm>
          <a:prstGeom prst="roundRect">
            <a:avLst>
              <a:gd name="adj" fmla="val 5217"/>
            </a:avLst>
          </a:prstGeom>
          <a:solidFill>
            <a:srgbClr val="EAF1F5"/>
          </a:solidFill>
          <a:ln w="19050">
            <a:solidFill>
              <a:srgbClr val="1C6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83464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51660" y="2286000"/>
            <a:ext cx="0" cy="548640"/>
          </a:xfrm>
          <a:prstGeom prst="line">
            <a:avLst/>
          </a:prstGeom>
          <a:noFill/>
          <a:ln w="12700">
            <a:solidFill>
              <a:srgbClr val="C7D6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81528" y="2834640"/>
            <a:ext cx="1965960" cy="1051560"/>
          </a:xfrm>
          <a:prstGeom prst="roundRect">
            <a:avLst>
              <a:gd name="adj" fmla="val 5217"/>
            </a:avLst>
          </a:prstGeom>
          <a:solidFill>
            <a:srgbClr val="EAF1F5"/>
          </a:solidFill>
          <a:ln w="19050">
            <a:solidFill>
              <a:srgbClr val="0E8C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81528" y="283464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064508" y="2286000"/>
            <a:ext cx="0" cy="548640"/>
          </a:xfrm>
          <a:prstGeom prst="line">
            <a:avLst/>
          </a:prstGeom>
          <a:noFill/>
          <a:ln w="12700">
            <a:solidFill>
              <a:srgbClr val="C7D6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94376" y="2834640"/>
            <a:ext cx="1965960" cy="1051560"/>
          </a:xfrm>
          <a:prstGeom prst="roundRect">
            <a:avLst>
              <a:gd name="adj" fmla="val 5217"/>
            </a:avLst>
          </a:prstGeom>
          <a:solidFill>
            <a:srgbClr val="EAF1F5"/>
          </a:solidFill>
          <a:ln w="19050">
            <a:solidFill>
              <a:srgbClr val="35B7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94376" y="283464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NER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77356" y="2286000"/>
            <a:ext cx="0" cy="548640"/>
          </a:xfrm>
          <a:prstGeom prst="line">
            <a:avLst/>
          </a:prstGeom>
          <a:noFill/>
          <a:ln w="12700">
            <a:solidFill>
              <a:srgbClr val="C7D6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07224" y="2834640"/>
            <a:ext cx="1965960" cy="1051560"/>
          </a:xfrm>
          <a:prstGeom prst="roundRect">
            <a:avLst>
              <a:gd name="adj" fmla="val 5217"/>
            </a:avLst>
          </a:prstGeom>
          <a:solidFill>
            <a:srgbClr val="EAF1F5"/>
          </a:solidFill>
          <a:ln w="19050">
            <a:solidFill>
              <a:srgbClr val="1C6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07224" y="283464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Search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490204" y="2286000"/>
            <a:ext cx="0" cy="548640"/>
          </a:xfrm>
          <a:prstGeom prst="line">
            <a:avLst/>
          </a:prstGeom>
          <a:noFill/>
          <a:ln w="12700">
            <a:solidFill>
              <a:srgbClr val="C7D6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720072" y="2834640"/>
            <a:ext cx="1965960" cy="1051560"/>
          </a:xfrm>
          <a:prstGeom prst="roundRect">
            <a:avLst>
              <a:gd name="adj" fmla="val 5217"/>
            </a:avLst>
          </a:prstGeom>
          <a:solidFill>
            <a:srgbClr val="EAF1F5"/>
          </a:solidFill>
          <a:ln w="19050">
            <a:solidFill>
              <a:srgbClr val="0E8C8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20072" y="283464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703052" y="2286000"/>
            <a:ext cx="0" cy="548640"/>
          </a:xfrm>
          <a:prstGeom prst="line">
            <a:avLst/>
          </a:prstGeom>
          <a:noFill/>
          <a:ln w="12700">
            <a:solidFill>
              <a:srgbClr val="C7D6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08960" y="4480560"/>
            <a:ext cx="5943600" cy="731520"/>
          </a:xfrm>
          <a:prstGeom prst="roundRect">
            <a:avLst>
              <a:gd name="adj" fmla="val 7500"/>
            </a:avLst>
          </a:prstGeom>
          <a:solidFill>
            <a:srgbClr val="0E8C86"/>
          </a:solidFill>
          <a:ln/>
        </p:spPr>
      </p:sp>
      <p:sp>
        <p:nvSpPr>
          <p:cNvPr id="22" name="Text 20"/>
          <p:cNvSpPr/>
          <p:nvPr/>
        </p:nvSpPr>
        <p:spPr>
          <a:xfrm>
            <a:off x="3108960" y="448056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ConversationalInterface  ←  natural-language queries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548640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capability is an independent, individually testable class. The orchestrator composes them; the conversational layer routes plain-English questions to the right analyzers.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Content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EAF1F5"/>
          </a:solidFill>
          <a:ln w="6350">
            <a:solidFill>
              <a:srgbClr val="C7D6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92" y="1947672"/>
            <a:ext cx="566928" cy="566928"/>
          </a:xfrm>
          <a:prstGeom prst="ellipse">
            <a:avLst/>
          </a:prstGeom>
          <a:solidFill>
            <a:srgbClr val="1C6D8F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19476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83080" y="1929384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+ Confidence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262432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Soft-voting ensemble (LogReg + SVC + NB) with confidence scores, alternative categories, and a plain-language explanation of why.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EAF1F5"/>
          </a:solidFill>
          <a:ln w="6350">
            <a:solidFill>
              <a:srgbClr val="C7D6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3952" y="1947672"/>
            <a:ext cx="566928" cy="566928"/>
          </a:xfrm>
          <a:prstGeom prst="ellipse">
            <a:avLst/>
          </a:prstGeom>
          <a:solidFill>
            <a:srgbClr val="0E8C86"/>
          </a:solidFill>
          <a:ln/>
        </p:spPr>
      </p:sp>
      <p:sp>
        <p:nvSpPr>
          <p:cNvPr id="11" name="Text 9"/>
          <p:cNvSpPr/>
          <p:nvPr/>
        </p:nvSpPr>
        <p:spPr>
          <a:xfrm>
            <a:off x="6473952" y="19476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78040" y="1929384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Discovery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62432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/ NMF modeling auto-labels hidden themes, scores coherence, and tracks how topics rise and fall over time.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384048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EAF1F5"/>
          </a:solidFill>
          <a:ln w="6350">
            <a:solidFill>
              <a:srgbClr val="C7D6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8992" y="4096512"/>
            <a:ext cx="566928" cy="566928"/>
          </a:xfrm>
          <a:prstGeom prst="ellipse">
            <a:avLst/>
          </a:prstGeom>
          <a:solidFill>
            <a:srgbClr val="35B7A6"/>
          </a:solidFill>
          <a:ln/>
        </p:spPr>
      </p:sp>
      <p:sp>
        <p:nvSpPr>
          <p:cNvPr id="16" name="Text 14"/>
          <p:cNvSpPr/>
          <p:nvPr/>
        </p:nvSpPr>
        <p:spPr>
          <a:xfrm>
            <a:off x="1078992" y="40965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83080" y="4078224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Evolution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477316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sentiment tracking with z-score anomaly detection to flag breaking events and opinion shifts.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84048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EAF1F5"/>
          </a:solidFill>
          <a:ln w="6350">
            <a:solidFill>
              <a:srgbClr val="C7D6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73952" y="4096512"/>
            <a:ext cx="566928" cy="566928"/>
          </a:xfrm>
          <a:prstGeom prst="ellipse">
            <a:avLst/>
          </a:prstGeom>
          <a:solidFill>
            <a:srgbClr val="12233F"/>
          </a:solidFill>
          <a:ln/>
        </p:spPr>
      </p:sp>
      <p:sp>
        <p:nvSpPr>
          <p:cNvPr id="21" name="Text 19"/>
          <p:cNvSpPr/>
          <p:nvPr/>
        </p:nvSpPr>
        <p:spPr>
          <a:xfrm>
            <a:off x="6473952" y="40965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178040" y="4078224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Knowledge Graph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92240" y="477316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NER + relationship extraction build a networkx graph answering 'how are X and Y connected?'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Understanding &amp; Generation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3429000" cy="3840480"/>
          </a:xfrm>
          <a:prstGeom prst="roundRect">
            <a:avLst>
              <a:gd name="adj" fmla="val 2133"/>
            </a:avLst>
          </a:prstGeom>
          <a:solidFill>
            <a:srgbClr val="EAF1F5"/>
          </a:solidFill>
          <a:ln w="6350">
            <a:solidFill>
              <a:srgbClr val="C7D6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92" y="2039112"/>
            <a:ext cx="566928" cy="566928"/>
          </a:xfrm>
          <a:prstGeom prst="ellipse">
            <a:avLst/>
          </a:prstGeom>
          <a:solidFill>
            <a:srgbClr val="1C6D8F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20391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83080" y="20208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2715768"/>
            <a:ext cx="28803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Extractive TextRank over a sentence-similarity graph, with an optional abstractive transformer path. Generates headlines and scores its own quality.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80560" y="1783080"/>
            <a:ext cx="3429000" cy="3840480"/>
          </a:xfrm>
          <a:prstGeom prst="roundRect">
            <a:avLst>
              <a:gd name="adj" fmla="val 2133"/>
            </a:avLst>
          </a:prstGeom>
          <a:solidFill>
            <a:srgbClr val="EAF1F5"/>
          </a:solidFill>
          <a:ln w="6350">
            <a:solidFill>
              <a:srgbClr val="C7D6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36592" y="2039112"/>
            <a:ext cx="566928" cy="566928"/>
          </a:xfrm>
          <a:prstGeom prst="ellipse">
            <a:avLst/>
          </a:prstGeom>
          <a:solidFill>
            <a:srgbClr val="0E8C86"/>
          </a:solidFill>
          <a:ln/>
        </p:spPr>
      </p:sp>
      <p:sp>
        <p:nvSpPr>
          <p:cNvPr id="11" name="Text 9"/>
          <p:cNvSpPr/>
          <p:nvPr/>
        </p:nvSpPr>
        <p:spPr>
          <a:xfrm>
            <a:off x="4736592" y="20391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40680" y="20208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54880" y="2715768"/>
            <a:ext cx="28803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Meaning-based search over embeddings — sentence-transformers when available, an LSA fallback that runs anywhere. Finds related coverage and clusters stories.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200400" cy="3840480"/>
          </a:xfrm>
          <a:prstGeom prst="roundRect">
            <a:avLst>
              <a:gd name="adj" fmla="val 2286"/>
            </a:avLst>
          </a:prstGeom>
          <a:solidFill>
            <a:srgbClr val="EAF1F5"/>
          </a:solidFill>
          <a:ln w="6350">
            <a:solidFill>
              <a:srgbClr val="C7D6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94192" y="2039112"/>
            <a:ext cx="566928" cy="566928"/>
          </a:xfrm>
          <a:prstGeom prst="ellipse">
            <a:avLst/>
          </a:prstGeom>
          <a:solidFill>
            <a:srgbClr val="35B7A6"/>
          </a:solidFill>
          <a:ln/>
        </p:spPr>
      </p:sp>
      <p:sp>
        <p:nvSpPr>
          <p:cNvPr id="16" name="Text 14"/>
          <p:cNvSpPr/>
          <p:nvPr/>
        </p:nvSpPr>
        <p:spPr>
          <a:xfrm>
            <a:off x="8394192" y="20391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098280" y="2020824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0" y="2715768"/>
            <a:ext cx="26517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Collection-level insight generation and coverage-gap detection to surface what's missing or under-reported.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 3 &amp;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Multilingual + Conversational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EAF1F5"/>
          </a:solidFill>
          <a:ln w="6350">
            <a:solidFill>
              <a:srgbClr val="C7D6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92" y="2039112"/>
            <a:ext cx="566928" cy="566928"/>
          </a:xfrm>
          <a:prstGeom prst="ellipse">
            <a:avLst/>
          </a:prstGeom>
          <a:solidFill>
            <a:srgbClr val="1C6D8F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20391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83080" y="2020824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Intelligence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271576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detection with confidence, translation, and cross-lingual coverage comparison — revealing differences in perspective across languages.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379476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EAF1F5"/>
          </a:solidFill>
          <a:ln w="6350">
            <a:solidFill>
              <a:srgbClr val="C7D6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8992" y="4050792"/>
            <a:ext cx="566928" cy="566928"/>
          </a:xfrm>
          <a:prstGeom prst="ellipse">
            <a:avLst/>
          </a:prstGeom>
          <a:solidFill>
            <a:srgbClr val="0E8C86"/>
          </a:solidFill>
          <a:ln/>
        </p:spPr>
      </p:sp>
      <p:sp>
        <p:nvSpPr>
          <p:cNvPr id="11" name="Text 9"/>
          <p:cNvSpPr/>
          <p:nvPr/>
        </p:nvSpPr>
        <p:spPr>
          <a:xfrm>
            <a:off x="1078992" y="40507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83080" y="4032504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Interface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472744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classification, slot extraction, and context-aware follow-ups turn plain English into system actions.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783080"/>
            <a:ext cx="5120640" cy="3977640"/>
          </a:xfrm>
          <a:prstGeom prst="roundRect">
            <a:avLst>
              <a:gd name="adj" fmla="val 1839"/>
            </a:avLst>
          </a:prstGeom>
          <a:solidFill>
            <a:srgbClr val="12233F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2011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B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23317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“Summarize positive technology news this week”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3383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955280" y="3383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5B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summarize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39502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955280" y="3950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5B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tech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451713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sentiment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0" y="45171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5B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positive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508406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timeframe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955280" y="50840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5B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week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B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HIGHLIGHT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Graceful Degradation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runs on a reliable backbone and automatically upgrades when advanced models are installed — with no code changes. The system runs unchanged from a lean laptop kernel to a full GPU runtime.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83464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1B3355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34564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5B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TextRank  →  DistilBART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283464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1B3355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29400" y="34564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5B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LSA embeddings  →  Sentence-BERT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29768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1B3355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3000" y="49194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5B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VADER  →  transformer model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429768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1B3355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29400" y="49194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5B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graceful skip  →  live translation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WORK?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Framework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built-in evaluator measures every component — not just claims. Fill results from your full BBC-News run.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3108960" cy="566928"/>
          </a:xfrm>
          <a:prstGeom prst="rect">
            <a:avLst/>
          </a:prstGeom>
          <a:solidFill>
            <a:srgbClr val="12233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8600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931920" y="2286000"/>
            <a:ext cx="3657600" cy="566928"/>
          </a:xfrm>
          <a:prstGeom prst="rect">
            <a:avLst/>
          </a:prstGeom>
          <a:solidFill>
            <a:srgbClr val="12233F"/>
          </a:solidFill>
          <a:ln/>
        </p:spPr>
      </p:sp>
      <p:sp>
        <p:nvSpPr>
          <p:cNvPr id="8" name="Text 6"/>
          <p:cNvSpPr/>
          <p:nvPr/>
        </p:nvSpPr>
        <p:spPr>
          <a:xfrm>
            <a:off x="4069080" y="228600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89520" y="2286000"/>
            <a:ext cx="3657600" cy="566928"/>
          </a:xfrm>
          <a:prstGeom prst="rect">
            <a:avLst/>
          </a:prstGeom>
          <a:solidFill>
            <a:srgbClr val="12233F"/>
          </a:solidFill>
          <a:ln/>
        </p:spPr>
      </p:sp>
      <p:sp>
        <p:nvSpPr>
          <p:cNvPr id="10" name="Text 8"/>
          <p:cNvSpPr/>
          <p:nvPr/>
        </p:nvSpPr>
        <p:spPr>
          <a:xfrm>
            <a:off x="7726680" y="228600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range (BBC)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2852928"/>
            <a:ext cx="31089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85292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931920" y="2852928"/>
            <a:ext cx="36576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069080" y="285292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/ macro-F1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589520" y="2852928"/>
            <a:ext cx="36576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726680" y="285292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 – 0.98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3419856"/>
            <a:ext cx="3108960" cy="566928"/>
          </a:xfrm>
          <a:prstGeom prst="rect">
            <a:avLst/>
          </a:prstGeom>
          <a:solidFill>
            <a:srgbClr val="EAF1F5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419856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modeling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931920" y="3419856"/>
            <a:ext cx="3657600" cy="566928"/>
          </a:xfrm>
          <a:prstGeom prst="rect">
            <a:avLst/>
          </a:prstGeom>
          <a:solidFill>
            <a:srgbClr val="EAF1F5"/>
          </a:solidFill>
          <a:ln/>
        </p:spPr>
      </p:sp>
      <p:sp>
        <p:nvSpPr>
          <p:cNvPr id="20" name="Text 18"/>
          <p:cNvSpPr/>
          <p:nvPr/>
        </p:nvSpPr>
        <p:spPr>
          <a:xfrm>
            <a:off x="4069080" y="341985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c_v coherence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589520" y="3419856"/>
            <a:ext cx="3657600" cy="566928"/>
          </a:xfrm>
          <a:prstGeom prst="rect">
            <a:avLst/>
          </a:prstGeom>
          <a:solidFill>
            <a:srgbClr val="EAF1F5"/>
          </a:solidFill>
          <a:ln/>
        </p:spPr>
      </p:sp>
      <p:sp>
        <p:nvSpPr>
          <p:cNvPr id="22" name="Text 20"/>
          <p:cNvSpPr/>
          <p:nvPr/>
        </p:nvSpPr>
        <p:spPr>
          <a:xfrm>
            <a:off x="7726680" y="341985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 – 0.65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2960" y="3986784"/>
            <a:ext cx="31089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3986784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931920" y="3986784"/>
            <a:ext cx="36576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4069080" y="398678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category match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589520" y="3986784"/>
            <a:ext cx="36576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7726680" y="398678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 – 0.98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22960" y="4553712"/>
            <a:ext cx="3108960" cy="566928"/>
          </a:xfrm>
          <a:prstGeom prst="rect">
            <a:avLst/>
          </a:prstGeom>
          <a:solidFill>
            <a:srgbClr val="EAF1F5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" y="455371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931920" y="4553712"/>
            <a:ext cx="3657600" cy="566928"/>
          </a:xfrm>
          <a:prstGeom prst="rect">
            <a:avLst/>
          </a:prstGeom>
          <a:solidFill>
            <a:srgbClr val="EAF1F5"/>
          </a:solidFill>
          <a:ln/>
        </p:spPr>
      </p:sp>
      <p:sp>
        <p:nvSpPr>
          <p:cNvPr id="32" name="Text 30"/>
          <p:cNvSpPr/>
          <p:nvPr/>
        </p:nvSpPr>
        <p:spPr>
          <a:xfrm>
            <a:off x="4069080" y="455371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Edge-case tests passed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589520" y="4553712"/>
            <a:ext cx="3657600" cy="566928"/>
          </a:xfrm>
          <a:prstGeom prst="rect">
            <a:avLst/>
          </a:prstGeom>
          <a:solidFill>
            <a:srgbClr val="EAF1F5"/>
          </a:solidFill>
          <a:ln/>
        </p:spPr>
      </p:sp>
      <p:sp>
        <p:nvSpPr>
          <p:cNvPr id="34" name="Text 32"/>
          <p:cNvSpPr/>
          <p:nvPr/>
        </p:nvSpPr>
        <p:spPr>
          <a:xfrm>
            <a:off x="7726680" y="455371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(empty / short / non-English)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22960" y="53492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• integration • edge-case tests all pass on the reference build.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Value &amp; Use Cases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66928" cy="566928"/>
          </a:xfrm>
          <a:prstGeom prst="ellipse">
            <a:avLst/>
          </a:prstGeom>
          <a:solidFill>
            <a:srgbClr val="1C6D8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08760" y="17647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11226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reading → seconds of analysis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807208"/>
            <a:ext cx="566928" cy="566928"/>
          </a:xfrm>
          <a:prstGeom prst="ellipse">
            <a:avLst/>
          </a:prstGeom>
          <a:solidFill>
            <a:srgbClr val="0E8C8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8072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08760" y="2788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3136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Cross-article trends made visible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831336"/>
            <a:ext cx="566928" cy="566928"/>
          </a:xfrm>
          <a:prstGeom prst="ellipse">
            <a:avLst/>
          </a:prstGeom>
          <a:solidFill>
            <a:srgbClr val="35B7A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8313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08760" y="38130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41605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query in plain English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855464"/>
            <a:ext cx="566928" cy="566928"/>
          </a:xfrm>
          <a:prstGeom prst="ellipse">
            <a:avLst/>
          </a:prstGeom>
          <a:solidFill>
            <a:srgbClr val="12233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85546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08760" y="48371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518464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+ explanations, not black boxes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0" y="1783080"/>
            <a:ext cx="4937760" cy="4160520"/>
          </a:xfrm>
          <a:prstGeom prst="roundRect">
            <a:avLst>
              <a:gd name="adj" fmla="val 1758"/>
            </a:avLst>
          </a:prstGeom>
          <a:solidFill>
            <a:srgbClr val="EAF1F5"/>
          </a:solidFill>
          <a:ln w="6350">
            <a:solidFill>
              <a:srgbClr val="C7D6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20116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03720" y="2468880"/>
            <a:ext cx="4206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Media monitoring &amp; PR intelligence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Financial &amp; market-signal analysis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Policy &amp; public-opinion tracking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Research &amp; competitive intelligence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Editorial triage and routing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2148840"/>
            <a:ext cx="146304" cy="146304"/>
          </a:xfrm>
          <a:prstGeom prst="ellipse">
            <a:avLst/>
          </a:prstGeom>
          <a:solidFill>
            <a:srgbClr val="0E8C86"/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" y="2148840"/>
            <a:ext cx="146304" cy="146304"/>
          </a:xfrm>
          <a:prstGeom prst="ellipse">
            <a:avLst/>
          </a:prstGeom>
          <a:solidFill>
            <a:srgbClr val="35B7A6"/>
          </a:solidFill>
          <a:ln/>
        </p:spPr>
      </p:sp>
      <p:sp>
        <p:nvSpPr>
          <p:cNvPr id="4" name="Shape 2"/>
          <p:cNvSpPr/>
          <p:nvPr/>
        </p:nvSpPr>
        <p:spPr>
          <a:xfrm>
            <a:off x="1463040" y="2148840"/>
            <a:ext cx="146304" cy="146304"/>
          </a:xfrm>
          <a:prstGeom prst="ellipse">
            <a:avLst/>
          </a:prstGeom>
          <a:solidFill>
            <a:srgbClr val="1C6D8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56032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Structured, queryable intelligence from an overwhelming stream of news.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41248" y="3931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NewsBot 2.0 — combining classification, topic modeling, summarization, semantic search, multilingual analysis, and conversational AI into one coherent, explainable system.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5303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5B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2026-07-21T00:00:42Z</dcterms:created>
  <dcterms:modified xsi:type="dcterms:W3CDTF">2026-07-21T00:00:42Z</dcterms:modified>
</cp:coreProperties>
</file>